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84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Target Revenue</c:v>
                </c:pt>
              </c:strCache>
            </c:strRef>
          </c:tx>
          <c:spPr>
            <a:solidFill>
              <a:srgbClr val="E9456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Month 1</c:v>
                </c:pt>
                <c:pt idx="1">
                  <c:v>Month 3</c:v>
                </c:pt>
                <c:pt idx="2">
                  <c:v>Month 6</c:v>
                </c:pt>
                <c:pt idx="3">
                  <c:v>Month 9</c:v>
                </c:pt>
                <c:pt idx="4">
                  <c:v>Month 12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3</c:v>
                </c:pt>
                <c:pt idx="2">
                  <c:v>8</c:v>
                </c:pt>
                <c:pt idx="3">
                  <c:v>15</c:v>
                </c:pt>
                <c:pt idx="4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FB2-8D44-9086-D8298911111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363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B94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 Streams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823-8249-9109-3E8A9C07AD57}"/>
              </c:ext>
            </c:extLst>
          </c:dPt>
          <c:dPt>
            <c:idx val="1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823-8249-9109-3E8A9C07AD57}"/>
              </c:ext>
            </c:extLst>
          </c:dPt>
          <c:dPt>
            <c:idx val="2"/>
            <c:bubble3D val="0"/>
            <c:spPr>
              <a:solidFill>
                <a:srgbClr val="F4A2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823-8249-9109-3E8A9C07AD57}"/>
              </c:ext>
            </c:extLst>
          </c:dPt>
          <c:dPt>
            <c:idx val="3"/>
            <c:bubble3D val="0"/>
            <c:spPr>
              <a:solidFill>
                <a:srgbClr val="E945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B823-8249-9109-3E8A9C07AD57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823-8249-9109-3E8A9C07AD57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B823-8249-9109-3E8A9C07AD57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B823-8249-9109-3E8A9C07AD57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B823-8249-9109-3E8A9C07AD57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Course Enrollment</c:v>
                </c:pt>
                <c:pt idx="1">
                  <c:v>Membership</c:v>
                </c:pt>
                <c:pt idx="2">
                  <c:v>1-on-1 Coaching</c:v>
                </c:pt>
                <c:pt idx="3">
                  <c:v>Corporate / CSR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25</c:v>
                </c:pt>
                <c:pt idx="2">
                  <c:v>20</c:v>
                </c:pt>
                <c:pt idx="3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823-8249-9109-3E8A9C07AD5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1194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5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3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080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120640" y="0"/>
            <a:ext cx="228600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5440680" y="27432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989320" y="27432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37960" y="27432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7086600" y="27432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635240" y="27432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183880" y="27432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440680" y="86868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989320" y="86868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537960" y="86868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086600" y="86868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635240" y="86868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183880" y="86868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40680" y="146304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989320" y="146304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537960" y="146304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86600" y="146304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635240" y="146304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183880" y="146304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440680" y="205740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989320" y="205740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537960" y="205740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086600" y="205740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635240" y="205740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183880" y="205740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440680" y="265176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989320" y="265176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537960" y="265176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086600" y="265176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635240" y="265176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183880" y="265176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440680" y="324612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5989320" y="324612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537960" y="324612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086600" y="324612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7635240" y="324612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183880" y="324612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5440680" y="384048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5989320" y="384048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6537960" y="384048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7086600" y="384048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635240" y="384048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8183880" y="384048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5440680" y="443484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5989320" y="443484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537960" y="443484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086600" y="443484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635240" y="443484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8183880" y="4434840"/>
            <a:ext cx="45720" cy="45720"/>
          </a:xfrm>
          <a:prstGeom prst="ellipse">
            <a:avLst/>
          </a:prstGeom>
          <a:solidFill>
            <a:srgbClr val="00B4D8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365760" y="41148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365760" y="822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LLC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65760" y="1143000"/>
            <a:ext cx="4754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</a:t>
            </a:r>
            <a:endParaRPr lang="en-US" sz="52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52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</a:t>
            </a:r>
            <a:endParaRPr lang="en-US" sz="5200" dirty="0"/>
          </a:p>
        </p:txBody>
      </p:sp>
      <p:sp>
        <p:nvSpPr>
          <p:cNvPr id="56" name="Shape 54"/>
          <p:cNvSpPr/>
          <p:nvPr/>
        </p:nvSpPr>
        <p:spPr>
          <a:xfrm>
            <a:off x="365760" y="3931920"/>
            <a:ext cx="1371600" cy="6400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1920240" y="3931920"/>
            <a:ext cx="274320" cy="6400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365760" y="4114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Sunday, 15th March 2026  |  10:00 AM Onwards</a:t>
            </a:r>
            <a:endParaRPr lang="en-US" sz="1200" dirty="0"/>
          </a:p>
        </p:txBody>
      </p:sp>
      <p:pic>
        <p:nvPicPr>
          <p:cNvPr id="5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0" y="640080"/>
            <a:ext cx="2743200" cy="2743200"/>
          </a:xfrm>
          <a:prstGeom prst="rect">
            <a:avLst/>
          </a:prstGeom>
        </p:spPr>
      </p:pic>
      <p:sp>
        <p:nvSpPr>
          <p:cNvPr id="60" name="Shape 57"/>
          <p:cNvSpPr/>
          <p:nvPr/>
        </p:nvSpPr>
        <p:spPr>
          <a:xfrm>
            <a:off x="5440680" y="3657600"/>
            <a:ext cx="347472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8"/>
          <p:cNvSpPr/>
          <p:nvPr/>
        </p:nvSpPr>
        <p:spPr>
          <a:xfrm>
            <a:off x="5577840" y="367588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700" dirty="0"/>
          </a:p>
        </p:txBody>
      </p:sp>
      <p:sp>
        <p:nvSpPr>
          <p:cNvPr id="62" name="Text 59"/>
          <p:cNvSpPr/>
          <p:nvPr/>
        </p:nvSpPr>
        <p:spPr>
          <a:xfrm>
            <a:off x="5577840" y="383133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Yaser Shamim, CEO</a:t>
            </a:r>
            <a:endParaRPr lang="en-US" sz="1100" dirty="0"/>
          </a:p>
        </p:txBody>
      </p:sp>
      <p:sp>
        <p:nvSpPr>
          <p:cNvPr id="63" name="Shape 60"/>
          <p:cNvSpPr/>
          <p:nvPr/>
        </p:nvSpPr>
        <p:spPr>
          <a:xfrm>
            <a:off x="5440680" y="4160520"/>
            <a:ext cx="3474720" cy="384048"/>
          </a:xfrm>
          <a:prstGeom prst="rect">
            <a:avLst/>
          </a:prstGeom>
          <a:solidFill>
            <a:srgbClr val="FFFFFF">
              <a:alpha val="10000"/>
            </a:srgbClr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1"/>
          <p:cNvSpPr/>
          <p:nvPr/>
        </p:nvSpPr>
        <p:spPr>
          <a:xfrm>
            <a:off x="5577840" y="4178808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700" dirty="0"/>
          </a:p>
        </p:txBody>
      </p:sp>
      <p:sp>
        <p:nvSpPr>
          <p:cNvPr id="65" name="Text 62"/>
          <p:cNvSpPr/>
          <p:nvPr/>
        </p:nvSpPr>
        <p:spPr>
          <a:xfrm>
            <a:off x="5577840" y="43342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·  Growth  ·  Profit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LLC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45720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OVERVIEW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Strategy Meeting  |  15 March 2026  |  10:00 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Agenda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Sunday, 15th March 2026  |  10:00 AM – 12:30 PM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17320"/>
            <a:ext cx="42976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45720" cy="56692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84048" y="1527048"/>
            <a:ext cx="347472" cy="347472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84048" y="15270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22960" y="1453896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22960" y="1664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Opening &amp; Welcome Remarks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075688"/>
            <a:ext cx="42976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075688"/>
            <a:ext cx="45720" cy="56692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84048" y="2185416"/>
            <a:ext cx="347472" cy="347472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" y="21854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211226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22960" y="232257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&amp; Its Rise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734056"/>
            <a:ext cx="42976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2734056"/>
            <a:ext cx="45720" cy="56692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84048" y="2843784"/>
            <a:ext cx="347472" cy="347472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84048" y="28437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22960" y="27706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10:20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" y="29809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&amp; Future of AI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392424"/>
            <a:ext cx="42976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74320" y="3392424"/>
            <a:ext cx="45720" cy="566928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84048" y="3502152"/>
            <a:ext cx="347472" cy="347472"/>
          </a:xfrm>
          <a:prstGeom prst="ellipse">
            <a:avLst/>
          </a:prstGeom>
          <a:solidFill>
            <a:srgbClr val="00B4D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84048" y="35021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22960" y="34290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10:35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22960" y="36393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 Content Creation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050792"/>
            <a:ext cx="42976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4320" y="4050792"/>
            <a:ext cx="45720" cy="566928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84048" y="4160520"/>
            <a:ext cx="347472" cy="347472"/>
          </a:xfrm>
          <a:prstGeom prst="ellipse">
            <a:avLst/>
          </a:prstGeom>
          <a:solidFill>
            <a:srgbClr val="E9456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84048" y="416052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960" y="4087368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10:50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22960" y="42976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&amp; TikTok Automation Program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46320" y="1417320"/>
            <a:ext cx="42976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846320" y="1417320"/>
            <a:ext cx="45720" cy="566928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956048" y="1527048"/>
            <a:ext cx="347472" cy="347472"/>
          </a:xfrm>
          <a:prstGeom prst="ellipse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956048" y="15270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394960" y="1453896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11:15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94960" y="166420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Empowerment Initiative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846320" y="2075688"/>
            <a:ext cx="42976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846320" y="2075688"/>
            <a:ext cx="45720" cy="56692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4956048" y="2185416"/>
            <a:ext cx="347472" cy="347472"/>
          </a:xfrm>
          <a:prstGeom prst="ellipse">
            <a:avLst/>
          </a:prstGeom>
          <a:solidFill>
            <a:srgbClr val="F4A26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4956048" y="218541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394960" y="2112264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11:35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94960" y="2322576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Sharing Plan (General)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846320" y="2734056"/>
            <a:ext cx="42976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846320" y="2734056"/>
            <a:ext cx="45720" cy="566928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4956048" y="2843784"/>
            <a:ext cx="347472" cy="347472"/>
          </a:xfrm>
          <a:prstGeom prst="ellipse">
            <a:avLst/>
          </a:prstGeom>
          <a:solidFill>
            <a:srgbClr val="F4A26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4956048" y="284378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5394960" y="27706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11:55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394960" y="2980944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Department-Based Profit Sharing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4846320" y="3392424"/>
            <a:ext cx="4297680" cy="566928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846320" y="3392424"/>
            <a:ext cx="45720" cy="566928"/>
          </a:xfrm>
          <a:prstGeom prst="rect">
            <a:avLst/>
          </a:prstGeom>
          <a:solidFill>
            <a:srgbClr val="8B94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4956048" y="3502152"/>
            <a:ext cx="347472" cy="347472"/>
          </a:xfrm>
          <a:prstGeom prst="ellipse">
            <a:avLst/>
          </a:prstGeom>
          <a:solidFill>
            <a:srgbClr val="8B949E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4956048" y="35021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394960" y="342900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12:15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5394960" y="36393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Q&amp;A, Action Items &amp; Close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00B4D8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FOUNDATION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· Present · Future · Content Creation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4206240"/>
            <a:ext cx="164592" cy="16459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80160" y="4206240"/>
            <a:ext cx="164592" cy="16459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91640" y="4206240"/>
            <a:ext cx="164592" cy="16459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03120" y="4206240"/>
            <a:ext cx="164592" cy="16459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LLC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45720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02 — INTRODUCTION TO AI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Strategy Meeting  |  15 March 2026  |  10:00 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48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Artificial Intelligence?</a:t>
            </a:r>
            <a:endParaRPr lang="en-US" sz="30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88720"/>
            <a:ext cx="1828800" cy="18288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74320" y="3200400"/>
            <a:ext cx="1828800" cy="1371600"/>
          </a:xfrm>
          <a:prstGeom prst="rect">
            <a:avLst/>
          </a:prstGeom>
          <a:solidFill>
            <a:srgbClr val="0F3460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274320" y="320040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enables machines to perform tasks that typically require human intelligence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468880" y="1143000"/>
            <a:ext cx="2057400" cy="34290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2468880" y="1143000"/>
            <a:ext cx="205740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017520" y="1325880"/>
            <a:ext cx="914400" cy="914400"/>
          </a:xfrm>
          <a:prstGeom prst="ellipse">
            <a:avLst/>
          </a:prstGeom>
          <a:solidFill>
            <a:srgbClr val="00B4D8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1417320"/>
            <a:ext cx="731520" cy="7315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468880" y="23774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AI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2560320" y="283464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tools — ChatGPT, Midjourney, ElevenLabs. Specific tasks at superhuman levels.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709160" y="1143000"/>
            <a:ext cx="2057400" cy="34290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4709160" y="1143000"/>
            <a:ext cx="2057400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5257800" y="1325880"/>
            <a:ext cx="914400" cy="914400"/>
          </a:xfrm>
          <a:prstGeom prst="ellipse">
            <a:avLst/>
          </a:prstGeom>
          <a:solidFill>
            <a:srgbClr val="F4A261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1417320"/>
            <a:ext cx="731520" cy="7315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09160" y="23774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AI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4800600" y="283464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Near-future — AI that can reason, learn and apply knowledge across ALL domains.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949440" y="1143000"/>
            <a:ext cx="2057400" cy="34290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6949440" y="1143000"/>
            <a:ext cx="205740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7498080" y="1325880"/>
            <a:ext cx="914400" cy="914400"/>
          </a:xfrm>
          <a:prstGeom prst="ellipse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1417320"/>
            <a:ext cx="731520" cy="73152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6949440" y="23774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AI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7040880" y="2834640"/>
            <a:ext cx="18745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future — AI that surpasses human intelligence in every measurable way.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LLC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45720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02 — THE RISE OF AI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Strategy Meeting  |  15 March 2026  |  10:00 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Rise of AI — A Global Shift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949965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technological revolution in human history — and SparkUp Creative is at its center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841248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868680" y="2148840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234440"/>
            <a:ext cx="1600200" cy="868680"/>
          </a:xfrm>
          <a:prstGeom prst="rect">
            <a:avLst/>
          </a:prstGeom>
          <a:solidFill>
            <a:srgbClr val="0F3460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2618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20040" y="1527048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 invented — the backbone of all modern AI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01268" y="2103120"/>
            <a:ext cx="0" cy="36576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587752" y="2148840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993392" y="2606040"/>
            <a:ext cx="1600200" cy="1005840"/>
          </a:xfrm>
          <a:prstGeom prst="rect">
            <a:avLst/>
          </a:prstGeom>
          <a:solidFill>
            <a:srgbClr val="0F3460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993392" y="2633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039112" y="2898648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GPT-3 released — first truly powerful language model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720340" y="2423160"/>
            <a:ext cx="0" cy="18288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06824" y="2148840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3712464" y="1234440"/>
            <a:ext cx="1600200" cy="868680"/>
          </a:xfrm>
          <a:prstGeom prst="rect">
            <a:avLst/>
          </a:prstGeom>
          <a:solidFill>
            <a:srgbClr val="0F3460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712464" y="12618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3758184" y="1527048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launches — 100M users in 60 days. AI becomes mainstream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439412" y="2103120"/>
            <a:ext cx="0" cy="36576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025896" y="2148840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31536" y="2606040"/>
            <a:ext cx="1600200" cy="1005840"/>
          </a:xfrm>
          <a:prstGeom prst="rect">
            <a:avLst/>
          </a:prstGeom>
          <a:solidFill>
            <a:srgbClr val="0F3460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431536" y="26334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477256" y="2898648"/>
            <a:ext cx="1508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Midjourney, Sora, ElevenLabs — AI conquers images, video &amp; voice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158484" y="2423160"/>
            <a:ext cx="0" cy="18288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744968" y="2148840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150608" y="1234440"/>
            <a:ext cx="1600200" cy="868680"/>
          </a:xfrm>
          <a:prstGeom prst="rect">
            <a:avLst/>
          </a:prstGeom>
          <a:solidFill>
            <a:srgbClr val="0F3460"/>
          </a:solidFill>
          <a:ln w="63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150608" y="12618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196328" y="1527048"/>
            <a:ext cx="15087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operate autonomously — entire businesses run on AI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877556" y="2103120"/>
            <a:ext cx="0" cy="36576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0040" y="3840480"/>
            <a:ext cx="201168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20040" y="3840480"/>
            <a:ext cx="2011680" cy="457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0040" y="3886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100M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320040" y="43708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in 60 days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(ChatGPT)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560320" y="3840480"/>
            <a:ext cx="201168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560320" y="3840480"/>
            <a:ext cx="2011680" cy="457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2560320" y="3886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$500B</a:t>
            </a:r>
            <a:endParaRPr lang="en-US" sz="2800" dirty="0"/>
          </a:p>
        </p:txBody>
      </p:sp>
      <p:sp>
        <p:nvSpPr>
          <p:cNvPr id="43" name="Text 41"/>
          <p:cNvSpPr/>
          <p:nvPr/>
        </p:nvSpPr>
        <p:spPr>
          <a:xfrm>
            <a:off x="2560320" y="43708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Market size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800600" y="3840480"/>
            <a:ext cx="201168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4800600" y="3840480"/>
            <a:ext cx="2011680" cy="457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800600" y="3886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2800" dirty="0"/>
          </a:p>
        </p:txBody>
      </p:sp>
      <p:sp>
        <p:nvSpPr>
          <p:cNvPr id="47" name="Text 45"/>
          <p:cNvSpPr/>
          <p:nvPr/>
        </p:nvSpPr>
        <p:spPr>
          <a:xfrm>
            <a:off x="4800600" y="43708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gain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AI tools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040880" y="3840480"/>
            <a:ext cx="201168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7040880" y="3840480"/>
            <a:ext cx="2011680" cy="457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7040880" y="3886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7040880" y="43708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Advantage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SparkUp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LLC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45720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03 — PRESENT STATE OF AI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Strategy Meeting  |  15 March 2026  |  10:00 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State of AI — 2025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2834640" cy="17830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283464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4048" y="1271016"/>
            <a:ext cx="548640" cy="548640"/>
          </a:xfrm>
          <a:prstGeom prst="ellipse">
            <a:avLst/>
          </a:prstGeom>
          <a:solidFill>
            <a:srgbClr val="00B4D8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25880"/>
            <a:ext cx="438912" cy="43891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24128" y="1252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&amp; WRITING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24128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 ·  Claude  ·  Gemini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365760" y="2331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Scripts, emails, strategies, SEO content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65760" y="2295144"/>
            <a:ext cx="26517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246120" y="1143000"/>
            <a:ext cx="2834640" cy="17830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246120" y="1143000"/>
            <a:ext cx="283464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3355848" y="1271016"/>
            <a:ext cx="548640" cy="548640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325880"/>
            <a:ext cx="438912" cy="43891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3995928" y="1252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CREATION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3995928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  ·  DALL·E  ·  Adobe Firefly</a:t>
            </a:r>
            <a:endParaRPr lang="en-US" sz="950" dirty="0"/>
          </a:p>
        </p:txBody>
      </p:sp>
      <p:sp>
        <p:nvSpPr>
          <p:cNvPr id="23" name="Text 19"/>
          <p:cNvSpPr/>
          <p:nvPr/>
        </p:nvSpPr>
        <p:spPr>
          <a:xfrm>
            <a:off x="3337560" y="2331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Thumbnails, branding, visual storytelling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3337560" y="2295144"/>
            <a:ext cx="26517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1"/>
          <p:cNvSpPr/>
          <p:nvPr/>
        </p:nvSpPr>
        <p:spPr>
          <a:xfrm>
            <a:off x="6217920" y="1143000"/>
            <a:ext cx="2834640" cy="17830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2"/>
          <p:cNvSpPr/>
          <p:nvPr/>
        </p:nvSpPr>
        <p:spPr>
          <a:xfrm>
            <a:off x="6217920" y="1143000"/>
            <a:ext cx="283464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3"/>
          <p:cNvSpPr/>
          <p:nvPr/>
        </p:nvSpPr>
        <p:spPr>
          <a:xfrm>
            <a:off x="6327648" y="1271016"/>
            <a:ext cx="548640" cy="548640"/>
          </a:xfrm>
          <a:prstGeom prst="ellipse">
            <a:avLst/>
          </a:prstGeom>
          <a:solidFill>
            <a:srgbClr val="E94560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325880"/>
            <a:ext cx="438912" cy="438912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967728" y="12527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GENERATION</a:t>
            </a:r>
            <a:endParaRPr lang="en-US" sz="900" dirty="0"/>
          </a:p>
        </p:txBody>
      </p:sp>
      <p:sp>
        <p:nvSpPr>
          <p:cNvPr id="30" name="Text 25"/>
          <p:cNvSpPr/>
          <p:nvPr/>
        </p:nvSpPr>
        <p:spPr>
          <a:xfrm>
            <a:off x="6967728" y="15087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Kling AI  ·  Runway  ·  Sora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309360" y="23317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films, reels, cinematic AI content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6309360" y="2295144"/>
            <a:ext cx="26517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8"/>
          <p:cNvSpPr/>
          <p:nvPr/>
        </p:nvSpPr>
        <p:spPr>
          <a:xfrm>
            <a:off x="274320" y="3063240"/>
            <a:ext cx="2834640" cy="17830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9"/>
          <p:cNvSpPr/>
          <p:nvPr/>
        </p:nvSpPr>
        <p:spPr>
          <a:xfrm>
            <a:off x="274320" y="3063240"/>
            <a:ext cx="283464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0"/>
          <p:cNvSpPr/>
          <p:nvPr/>
        </p:nvSpPr>
        <p:spPr>
          <a:xfrm>
            <a:off x="384048" y="3191256"/>
            <a:ext cx="548640" cy="54864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246120"/>
            <a:ext cx="438912" cy="438912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024128" y="3172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AUDIO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1024128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 ·  Murf  ·  Adobe Speech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365760" y="4251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Voiceovers, podcasts, multilingual content</a:t>
            </a:r>
            <a:endParaRPr lang="en-US" sz="950" dirty="0"/>
          </a:p>
        </p:txBody>
      </p:sp>
      <p:sp>
        <p:nvSpPr>
          <p:cNvPr id="40" name="Shape 34"/>
          <p:cNvSpPr/>
          <p:nvPr/>
        </p:nvSpPr>
        <p:spPr>
          <a:xfrm>
            <a:off x="365760" y="4215384"/>
            <a:ext cx="26517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5"/>
          <p:cNvSpPr/>
          <p:nvPr/>
        </p:nvSpPr>
        <p:spPr>
          <a:xfrm>
            <a:off x="3246120" y="3063240"/>
            <a:ext cx="2834640" cy="17830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6"/>
          <p:cNvSpPr/>
          <p:nvPr/>
        </p:nvSpPr>
        <p:spPr>
          <a:xfrm>
            <a:off x="3246120" y="3063240"/>
            <a:ext cx="2834640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Shape 37"/>
          <p:cNvSpPr/>
          <p:nvPr/>
        </p:nvSpPr>
        <p:spPr>
          <a:xfrm>
            <a:off x="3355848" y="3191256"/>
            <a:ext cx="548640" cy="548640"/>
          </a:xfrm>
          <a:prstGeom prst="ellipse">
            <a:avLst/>
          </a:prstGeom>
          <a:solidFill>
            <a:srgbClr val="F4A261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246120"/>
            <a:ext cx="438912" cy="438912"/>
          </a:xfrm>
          <a:prstGeom prst="rect">
            <a:avLst/>
          </a:prstGeom>
        </p:spPr>
      </p:pic>
      <p:sp>
        <p:nvSpPr>
          <p:cNvPr id="45" name="Text 38"/>
          <p:cNvSpPr/>
          <p:nvPr/>
        </p:nvSpPr>
        <p:spPr>
          <a:xfrm>
            <a:off x="3995928" y="3172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3995928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 ·  Zapier  ·  n8n</a:t>
            </a:r>
            <a:endParaRPr lang="en-US" sz="950" dirty="0"/>
          </a:p>
        </p:txBody>
      </p:sp>
      <p:sp>
        <p:nvSpPr>
          <p:cNvPr id="47" name="Text 40"/>
          <p:cNvSpPr/>
          <p:nvPr/>
        </p:nvSpPr>
        <p:spPr>
          <a:xfrm>
            <a:off x="3337560" y="4251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Workflows, scheduling, bulk operations</a:t>
            </a:r>
            <a:endParaRPr lang="en-US" sz="950" dirty="0"/>
          </a:p>
        </p:txBody>
      </p:sp>
      <p:sp>
        <p:nvSpPr>
          <p:cNvPr id="48" name="Shape 41"/>
          <p:cNvSpPr/>
          <p:nvPr/>
        </p:nvSpPr>
        <p:spPr>
          <a:xfrm>
            <a:off x="3337560" y="4215384"/>
            <a:ext cx="26517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2"/>
          <p:cNvSpPr/>
          <p:nvPr/>
        </p:nvSpPr>
        <p:spPr>
          <a:xfrm>
            <a:off x="6217920" y="3063240"/>
            <a:ext cx="2834640" cy="17830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3"/>
          <p:cNvSpPr/>
          <p:nvPr/>
        </p:nvSpPr>
        <p:spPr>
          <a:xfrm>
            <a:off x="6217920" y="3063240"/>
            <a:ext cx="2834640" cy="54864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4"/>
          <p:cNvSpPr/>
          <p:nvPr/>
        </p:nvSpPr>
        <p:spPr>
          <a:xfrm>
            <a:off x="6327648" y="3191256"/>
            <a:ext cx="548640" cy="548640"/>
          </a:xfrm>
          <a:prstGeom prst="ellipse">
            <a:avLst/>
          </a:prstGeom>
          <a:solidFill>
            <a:srgbClr val="0F3460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3246120"/>
            <a:ext cx="438912" cy="438912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6967728" y="317296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AI</a:t>
            </a:r>
            <a:endParaRPr lang="en-US" sz="900" dirty="0"/>
          </a:p>
        </p:txBody>
      </p:sp>
      <p:sp>
        <p:nvSpPr>
          <p:cNvPr id="54" name="Text 46"/>
          <p:cNvSpPr/>
          <p:nvPr/>
        </p:nvSpPr>
        <p:spPr>
          <a:xfrm>
            <a:off x="6967728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AI  ·  Google Performance Max</a:t>
            </a:r>
            <a:endParaRPr lang="en-US" sz="950" dirty="0"/>
          </a:p>
        </p:txBody>
      </p:sp>
      <p:sp>
        <p:nvSpPr>
          <p:cNvPr id="55" name="Text 47"/>
          <p:cNvSpPr/>
          <p:nvPr/>
        </p:nvSpPr>
        <p:spPr>
          <a:xfrm>
            <a:off x="6309360" y="42519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copy, targeting, A/B testing, analytics</a:t>
            </a:r>
            <a:endParaRPr lang="en-US" sz="950" dirty="0"/>
          </a:p>
        </p:txBody>
      </p:sp>
      <p:sp>
        <p:nvSpPr>
          <p:cNvPr id="56" name="Shape 48"/>
          <p:cNvSpPr/>
          <p:nvPr/>
        </p:nvSpPr>
        <p:spPr>
          <a:xfrm>
            <a:off x="6309360" y="4215384"/>
            <a:ext cx="2651760" cy="0"/>
          </a:xfrm>
          <a:prstGeom prst="line">
            <a:avLst/>
          </a:prstGeom>
          <a:noFill/>
          <a:ln w="635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LLC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45720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03 — FUTURE OF AI 2026–2030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Strategy Meeting  |  15 March 2026  |  10:00 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Future of AI — 2026 to 2030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coming — and how SparkUp Creative will be positioned to lead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17320"/>
            <a:ext cx="2834640" cy="162763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54864" cy="16276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11480" y="1554480"/>
            <a:ext cx="502920" cy="502920"/>
          </a:xfrm>
          <a:prstGeom prst="ellipse">
            <a:avLst/>
          </a:prstGeom>
          <a:solidFill>
            <a:srgbClr val="00B4D8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581912"/>
            <a:ext cx="438912" cy="4389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51560" y="1527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Agents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5760" y="22402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handles entire business workflows — email, scheduling, posting, responding — without human input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246120" y="1417320"/>
            <a:ext cx="2834640" cy="162763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246120" y="1417320"/>
            <a:ext cx="54864" cy="162763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3383280" y="1554480"/>
            <a:ext cx="502920" cy="502920"/>
          </a:xfrm>
          <a:prstGeom prst="ellipse">
            <a:avLst/>
          </a:prstGeom>
          <a:solidFill>
            <a:srgbClr val="E94560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581912"/>
            <a:ext cx="438912" cy="43891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023360" y="1527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Hyper-Personalized Content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337560" y="22402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different, tailored versions of content for every single viewer in real time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6217920" y="1417320"/>
            <a:ext cx="2834640" cy="162763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217920" y="1417320"/>
            <a:ext cx="54864" cy="162763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6355080" y="1554480"/>
            <a:ext cx="502920" cy="50292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2512" y="1581912"/>
            <a:ext cx="438912" cy="438912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995160" y="152704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AI Translation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309360" y="224028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content instantly available in any language — massive global reach for local creators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274320" y="3200400"/>
            <a:ext cx="2834640" cy="162763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274320" y="3200400"/>
            <a:ext cx="54864" cy="16276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411480" y="3337560"/>
            <a:ext cx="502920" cy="502920"/>
          </a:xfrm>
          <a:prstGeom prst="ellipse">
            <a:avLst/>
          </a:prstGeom>
          <a:solidFill>
            <a:srgbClr val="F4A261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" y="3364992"/>
            <a:ext cx="438912" cy="43891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051560" y="331012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Brand Personas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365760" y="40233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influencers and brand spokespersons becoming the norm in digital marketing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3246120" y="3200400"/>
            <a:ext cx="2834640" cy="162763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3246120" y="3200400"/>
            <a:ext cx="54864" cy="162763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3383280" y="3337560"/>
            <a:ext cx="502920" cy="502920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10712" y="3364992"/>
            <a:ext cx="438912" cy="438912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4023360" y="331012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Ad Platforms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3337560" y="40233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Dramatically lower cost-per-acquisition through machine-optimized targeting and creatives</a:t>
            </a:r>
            <a:endParaRPr lang="en-US" sz="950" dirty="0"/>
          </a:p>
        </p:txBody>
      </p:sp>
      <p:sp>
        <p:nvSpPr>
          <p:cNvPr id="40" name="Shape 33"/>
          <p:cNvSpPr/>
          <p:nvPr/>
        </p:nvSpPr>
        <p:spPr>
          <a:xfrm>
            <a:off x="6217920" y="3200400"/>
            <a:ext cx="2834640" cy="162763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4"/>
          <p:cNvSpPr/>
          <p:nvPr/>
        </p:nvSpPr>
        <p:spPr>
          <a:xfrm>
            <a:off x="6217920" y="3200400"/>
            <a:ext cx="54864" cy="16276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35"/>
          <p:cNvSpPr/>
          <p:nvPr/>
        </p:nvSpPr>
        <p:spPr>
          <a:xfrm>
            <a:off x="6355080" y="3337560"/>
            <a:ext cx="502920" cy="502920"/>
          </a:xfrm>
          <a:prstGeom prst="ellipse">
            <a:avLst/>
          </a:prstGeom>
          <a:solidFill>
            <a:srgbClr val="F4A261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82512" y="3364992"/>
            <a:ext cx="438912" cy="438912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6995160" y="331012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SparkUp's Advantage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6309360" y="4023360"/>
            <a:ext cx="2697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train people NOW — giving them first-mover advantage before these technologies fully arrive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LLC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45720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04 — AI IN CONTENT CREATION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Strategy Meeting  |  15 March 2026  |  10:00 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Content Creation Workflow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idea to publish — every step powered by AI tools SparkUp Creative already uses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17320"/>
            <a:ext cx="1600200" cy="3200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1600200" cy="7315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09244" y="1554480"/>
            <a:ext cx="530352" cy="530352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9244" y="15544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2240280"/>
            <a:ext cx="548640" cy="54864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74320" y="2926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IDEATE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320040" y="33832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Research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874520" y="3017520"/>
            <a:ext cx="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993392" y="2852928"/>
            <a:ext cx="109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9" name="Shape 16"/>
          <p:cNvSpPr/>
          <p:nvPr/>
        </p:nvSpPr>
        <p:spPr>
          <a:xfrm>
            <a:off x="2011680" y="1417320"/>
            <a:ext cx="1600200" cy="3200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2011680" y="1417320"/>
            <a:ext cx="1600200" cy="7315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2546604" y="1554480"/>
            <a:ext cx="530352" cy="530352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2546604" y="15544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7460" y="2240280"/>
            <a:ext cx="548640" cy="54864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011680" y="2926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2057400" y="33832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Script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System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611880" y="3017520"/>
            <a:ext cx="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3"/>
          <p:cNvSpPr/>
          <p:nvPr/>
        </p:nvSpPr>
        <p:spPr>
          <a:xfrm>
            <a:off x="3730752" y="2852928"/>
            <a:ext cx="109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4"/>
          <p:cNvSpPr/>
          <p:nvPr/>
        </p:nvSpPr>
        <p:spPr>
          <a:xfrm>
            <a:off x="3749040" y="1417320"/>
            <a:ext cx="1600200" cy="3200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5"/>
          <p:cNvSpPr/>
          <p:nvPr/>
        </p:nvSpPr>
        <p:spPr>
          <a:xfrm>
            <a:off x="3749040" y="1417320"/>
            <a:ext cx="1600200" cy="7315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6"/>
          <p:cNvSpPr/>
          <p:nvPr/>
        </p:nvSpPr>
        <p:spPr>
          <a:xfrm>
            <a:off x="4283964" y="1554480"/>
            <a:ext cx="530352" cy="530352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7"/>
          <p:cNvSpPr/>
          <p:nvPr/>
        </p:nvSpPr>
        <p:spPr>
          <a:xfrm>
            <a:off x="4283964" y="15544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4820" y="2240280"/>
            <a:ext cx="548640" cy="54864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3749040" y="2926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3794760" y="33832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Kling AI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Midjourney</a:t>
            </a:r>
            <a:endParaRPr lang="en-US" sz="1000" dirty="0"/>
          </a:p>
        </p:txBody>
      </p:sp>
      <p:sp>
        <p:nvSpPr>
          <p:cNvPr id="35" name="Shape 30"/>
          <p:cNvSpPr/>
          <p:nvPr/>
        </p:nvSpPr>
        <p:spPr>
          <a:xfrm>
            <a:off x="5349240" y="3017520"/>
            <a:ext cx="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5468112" y="2852928"/>
            <a:ext cx="109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37" name="Shape 32"/>
          <p:cNvSpPr/>
          <p:nvPr/>
        </p:nvSpPr>
        <p:spPr>
          <a:xfrm>
            <a:off x="5486400" y="1417320"/>
            <a:ext cx="1600200" cy="3200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5486400" y="1417320"/>
            <a:ext cx="1600200" cy="7315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4"/>
          <p:cNvSpPr/>
          <p:nvPr/>
        </p:nvSpPr>
        <p:spPr>
          <a:xfrm>
            <a:off x="6021324" y="1554480"/>
            <a:ext cx="530352" cy="53035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5"/>
          <p:cNvSpPr/>
          <p:nvPr/>
        </p:nvSpPr>
        <p:spPr>
          <a:xfrm>
            <a:off x="6021324" y="15544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pic>
        <p:nvPicPr>
          <p:cNvPr id="4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2180" y="2240280"/>
            <a:ext cx="548640" cy="548640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5486400" y="2926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</a:t>
            </a:r>
            <a:endParaRPr lang="en-US" sz="1200" dirty="0"/>
          </a:p>
        </p:txBody>
      </p:sp>
      <p:sp>
        <p:nvSpPr>
          <p:cNvPr id="43" name="Text 37"/>
          <p:cNvSpPr/>
          <p:nvPr/>
        </p:nvSpPr>
        <p:spPr>
          <a:xfrm>
            <a:off x="5532120" y="33832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Narration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7086600" y="3017520"/>
            <a:ext cx="137160" cy="0"/>
          </a:xfrm>
          <a:prstGeom prst="line">
            <a:avLst/>
          </a:prstGeom>
          <a:noFill/>
          <a:ln w="254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39"/>
          <p:cNvSpPr/>
          <p:nvPr/>
        </p:nvSpPr>
        <p:spPr>
          <a:xfrm>
            <a:off x="7205472" y="2852928"/>
            <a:ext cx="10972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46" name="Shape 40"/>
          <p:cNvSpPr/>
          <p:nvPr/>
        </p:nvSpPr>
        <p:spPr>
          <a:xfrm>
            <a:off x="7223760" y="1417320"/>
            <a:ext cx="1600200" cy="3200400"/>
          </a:xfrm>
          <a:prstGeom prst="rect">
            <a:avLst/>
          </a:prstGeom>
          <a:solidFill>
            <a:srgbClr val="161B22"/>
          </a:solidFill>
          <a:ln w="6350">
            <a:solidFill>
              <a:srgbClr val="30363D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7" name="Shape 41"/>
          <p:cNvSpPr/>
          <p:nvPr/>
        </p:nvSpPr>
        <p:spPr>
          <a:xfrm>
            <a:off x="7223760" y="1417320"/>
            <a:ext cx="1600200" cy="7315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2"/>
          <p:cNvSpPr/>
          <p:nvPr/>
        </p:nvSpPr>
        <p:spPr>
          <a:xfrm>
            <a:off x="7758684" y="1554480"/>
            <a:ext cx="530352" cy="530352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3"/>
          <p:cNvSpPr/>
          <p:nvPr/>
        </p:nvSpPr>
        <p:spPr>
          <a:xfrm>
            <a:off x="7758684" y="15544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pic>
        <p:nvPicPr>
          <p:cNvPr id="5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9540" y="2240280"/>
            <a:ext cx="548640" cy="548640"/>
          </a:xfrm>
          <a:prstGeom prst="rect">
            <a:avLst/>
          </a:prstGeom>
        </p:spPr>
      </p:pic>
      <p:sp>
        <p:nvSpPr>
          <p:cNvPr id="51" name="Text 44"/>
          <p:cNvSpPr/>
          <p:nvPr/>
        </p:nvSpPr>
        <p:spPr>
          <a:xfrm>
            <a:off x="7223760" y="292608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</a:t>
            </a:r>
            <a:endParaRPr lang="en-US" sz="1200" dirty="0"/>
          </a:p>
        </p:txBody>
      </p:sp>
      <p:sp>
        <p:nvSpPr>
          <p:cNvPr id="52" name="Text 45"/>
          <p:cNvSpPr/>
          <p:nvPr/>
        </p:nvSpPr>
        <p:spPr>
          <a:xfrm>
            <a:off x="7269480" y="338328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Auto-Schedule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Multi-Platform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LLC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45720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04 — SPARKUP ACTIVE AI PROJECTS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Strategy Meeting  |  15 March 2026  |  10:00 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Creative's Active AI Projects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4206240" cy="117043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64008" cy="117043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1307592"/>
            <a:ext cx="502920" cy="5029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3474720" y="1234440"/>
            <a:ext cx="886968" cy="228600"/>
          </a:xfrm>
          <a:prstGeom prst="rect">
            <a:avLst/>
          </a:prstGeom>
          <a:solidFill>
            <a:srgbClr val="E9456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3474720" y="1234440"/>
            <a:ext cx="886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1078992" y="12161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Motivational Channel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78992" y="158191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Anime-style visual storytelling. AI script → AI images (Kling AI) → ElevenLabs voice → published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4709160" y="1143000"/>
            <a:ext cx="4206240" cy="117043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4709160" y="1143000"/>
            <a:ext cx="64008" cy="117043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3752" y="1307592"/>
            <a:ext cx="502920" cy="50292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909560" y="1234440"/>
            <a:ext cx="886968" cy="228600"/>
          </a:xfrm>
          <a:prstGeom prst="rect">
            <a:avLst/>
          </a:prstGeom>
          <a:solidFill>
            <a:srgbClr val="00B4D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6"/>
          <p:cNvSpPr/>
          <p:nvPr/>
        </p:nvSpPr>
        <p:spPr>
          <a:xfrm>
            <a:off x="7909560" y="1234440"/>
            <a:ext cx="886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50" dirty="0"/>
          </a:p>
        </p:txBody>
      </p:sp>
      <p:sp>
        <p:nvSpPr>
          <p:cNvPr id="21" name="Text 17"/>
          <p:cNvSpPr/>
          <p:nvPr/>
        </p:nvSpPr>
        <p:spPr>
          <a:xfrm>
            <a:off x="5513832" y="121615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Kling AI Shorts Channel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5513832" y="158191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Cinematic visual content without voiceover. Pure AI storytelling through stunning imagery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274320" y="2468880"/>
            <a:ext cx="4206240" cy="117043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274320" y="2468880"/>
            <a:ext cx="64008" cy="117043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2633472"/>
            <a:ext cx="502920" cy="50292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3474720" y="2560320"/>
            <a:ext cx="886968" cy="228600"/>
          </a:xfrm>
          <a:prstGeom prst="rect">
            <a:avLst/>
          </a:prstGeom>
          <a:solidFill>
            <a:srgbClr val="F4A261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3474720" y="2560320"/>
            <a:ext cx="886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750" dirty="0"/>
          </a:p>
        </p:txBody>
      </p:sp>
      <p:sp>
        <p:nvSpPr>
          <p:cNvPr id="28" name="Text 23"/>
          <p:cNvSpPr/>
          <p:nvPr/>
        </p:nvSpPr>
        <p:spPr>
          <a:xfrm>
            <a:off x="1078992" y="254203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Bollywood Song Videos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1078992" y="290779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Hindi/Urdu narrative songs — AI image prompts matched to emotional sequences for visual storytelling</a:t>
            </a:r>
            <a:endParaRPr lang="en-US" sz="950" dirty="0"/>
          </a:p>
        </p:txBody>
      </p:sp>
      <p:sp>
        <p:nvSpPr>
          <p:cNvPr id="30" name="Shape 25"/>
          <p:cNvSpPr/>
          <p:nvPr/>
        </p:nvSpPr>
        <p:spPr>
          <a:xfrm>
            <a:off x="4709160" y="2468880"/>
            <a:ext cx="4206240" cy="117043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6"/>
          <p:cNvSpPr/>
          <p:nvPr/>
        </p:nvSpPr>
        <p:spPr>
          <a:xfrm>
            <a:off x="4709160" y="2468880"/>
            <a:ext cx="64008" cy="117043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2633472"/>
            <a:ext cx="502920" cy="502920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7909560" y="2560320"/>
            <a:ext cx="886968" cy="228600"/>
          </a:xfrm>
          <a:prstGeom prst="rect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8"/>
          <p:cNvSpPr/>
          <p:nvPr/>
        </p:nvSpPr>
        <p:spPr>
          <a:xfrm>
            <a:off x="7909560" y="2560320"/>
            <a:ext cx="886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750" dirty="0"/>
          </a:p>
        </p:txBody>
      </p:sp>
      <p:sp>
        <p:nvSpPr>
          <p:cNvPr id="35" name="Text 29"/>
          <p:cNvSpPr/>
          <p:nvPr/>
        </p:nvSpPr>
        <p:spPr>
          <a:xfrm>
            <a:off x="5513832" y="254203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Empowerment Content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5513832" y="290779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educational reels and course materials for the empowerment training program</a:t>
            </a:r>
            <a:endParaRPr lang="en-US" sz="950" dirty="0"/>
          </a:p>
        </p:txBody>
      </p:sp>
      <p:sp>
        <p:nvSpPr>
          <p:cNvPr id="37" name="Shape 31"/>
          <p:cNvSpPr/>
          <p:nvPr/>
        </p:nvSpPr>
        <p:spPr>
          <a:xfrm>
            <a:off x="274320" y="3794760"/>
            <a:ext cx="4206240" cy="117043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2"/>
          <p:cNvSpPr/>
          <p:nvPr/>
        </p:nvSpPr>
        <p:spPr>
          <a:xfrm>
            <a:off x="274320" y="3794760"/>
            <a:ext cx="64008" cy="117043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" y="3959352"/>
            <a:ext cx="502920" cy="502920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3474720" y="3886200"/>
            <a:ext cx="886968" cy="228600"/>
          </a:xfrm>
          <a:prstGeom prst="rect">
            <a:avLst/>
          </a:prstGeom>
          <a:solidFill>
            <a:srgbClr val="7C3AED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3474720" y="3886200"/>
            <a:ext cx="886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750" dirty="0"/>
          </a:p>
        </p:txBody>
      </p:sp>
      <p:sp>
        <p:nvSpPr>
          <p:cNvPr id="42" name="Text 35"/>
          <p:cNvSpPr/>
          <p:nvPr/>
        </p:nvSpPr>
        <p:spPr>
          <a:xfrm>
            <a:off x="1078992" y="386791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Client: Coffee Brand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1078992" y="423367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digital marketing production for coffee powder manufacturer — AI-assisted ad creatives &amp; copy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4709160" y="3794760"/>
            <a:ext cx="4206240" cy="117043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Shape 38"/>
          <p:cNvSpPr/>
          <p:nvPr/>
        </p:nvSpPr>
        <p:spPr>
          <a:xfrm>
            <a:off x="4709160" y="3794760"/>
            <a:ext cx="64008" cy="1170432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3752" y="3959352"/>
            <a:ext cx="502920" cy="502920"/>
          </a:xfrm>
          <a:prstGeom prst="rect">
            <a:avLst/>
          </a:prstGeom>
        </p:spPr>
      </p:pic>
      <p:sp>
        <p:nvSpPr>
          <p:cNvPr id="47" name="Shape 39"/>
          <p:cNvSpPr/>
          <p:nvPr/>
        </p:nvSpPr>
        <p:spPr>
          <a:xfrm>
            <a:off x="7909560" y="3886200"/>
            <a:ext cx="886968" cy="228600"/>
          </a:xfrm>
          <a:prstGeom prst="rect">
            <a:avLst/>
          </a:prstGeom>
          <a:solidFill>
            <a:srgbClr val="0F346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0"/>
          <p:cNvSpPr/>
          <p:nvPr/>
        </p:nvSpPr>
        <p:spPr>
          <a:xfrm>
            <a:off x="7909560" y="3886200"/>
            <a:ext cx="8869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750" dirty="0"/>
          </a:p>
        </p:txBody>
      </p:sp>
      <p:sp>
        <p:nvSpPr>
          <p:cNvPr id="49" name="Text 41"/>
          <p:cNvSpPr/>
          <p:nvPr/>
        </p:nvSpPr>
        <p:spPr>
          <a:xfrm>
            <a:off x="5513832" y="3867912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 Program Content</a:t>
            </a:r>
            <a:endParaRPr lang="en-US" sz="1200" dirty="0"/>
          </a:p>
        </p:txBody>
      </p:sp>
      <p:sp>
        <p:nvSpPr>
          <p:cNvPr id="50" name="Text 42"/>
          <p:cNvSpPr/>
          <p:nvPr/>
        </p:nvSpPr>
        <p:spPr>
          <a:xfrm>
            <a:off x="5513832" y="4233672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materials, demo videos, and workshop assets produced entirely with AI tools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E94560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&amp; TIKTOK AUTOMATION PROGRAM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faceless AI-powered channels that generate passive income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164592" cy="164592"/>
          </a:xfrm>
          <a:prstGeom prst="ellipse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4206240"/>
            <a:ext cx="164592" cy="16459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80160" y="4206240"/>
            <a:ext cx="164592" cy="16459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91640" y="4206240"/>
            <a:ext cx="164592" cy="16459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03120" y="4206240"/>
            <a:ext cx="164592" cy="16459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LLC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45720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05 — YT &amp; TIKTOK AUTOMATION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Strategy Meeting  |  15 March 2026  |  10:00 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0" y="502920"/>
            <a:ext cx="4389120" cy="464058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22960"/>
            <a:ext cx="1097280" cy="10972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45920" y="68580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&amp;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274320" y="2148840"/>
            <a:ext cx="3840480" cy="27432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331720"/>
            <a:ext cx="228600" cy="2286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" y="233172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faceless content channels</a:t>
            </a:r>
            <a:endParaRPr lang="en-US" sz="11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274320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58368" y="274320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human input after initial setup</a:t>
            </a:r>
            <a:endParaRPr lang="en-US" sz="11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154680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58368" y="315468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Targets: YouTube (long-form + Shorts) &amp; TikTok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566160"/>
            <a:ext cx="228600" cy="22860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58368" y="356616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AdSense · Brand deals · Affiliates</a:t>
            </a:r>
            <a:endParaRPr lang="en-US" sz="11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977640"/>
            <a:ext cx="228600" cy="2286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658368" y="397764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SparkUp's own channels AND clients</a:t>
            </a:r>
            <a:endParaRPr lang="en-US" sz="1100" dirty="0"/>
          </a:p>
        </p:txBody>
      </p:sp>
      <p:sp>
        <p:nvSpPr>
          <p:cNvPr id="22" name="Text 14"/>
          <p:cNvSpPr/>
          <p:nvPr/>
        </p:nvSpPr>
        <p:spPr>
          <a:xfrm>
            <a:off x="4663440" y="59436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2000" dirty="0"/>
          </a:p>
        </p:txBody>
      </p:sp>
      <p:sp>
        <p:nvSpPr>
          <p:cNvPr id="23" name="Shape 15"/>
          <p:cNvSpPr/>
          <p:nvPr/>
        </p:nvSpPr>
        <p:spPr>
          <a:xfrm>
            <a:off x="4663440" y="1097280"/>
            <a:ext cx="4297680" cy="1188720"/>
          </a:xfrm>
          <a:prstGeom prst="rect">
            <a:avLst/>
          </a:prstGeom>
          <a:solidFill>
            <a:srgbClr val="0F3460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6"/>
          <p:cNvSpPr/>
          <p:nvPr/>
        </p:nvSpPr>
        <p:spPr>
          <a:xfrm>
            <a:off x="4663440" y="1097280"/>
            <a:ext cx="64008" cy="118872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7"/>
          <p:cNvSpPr/>
          <p:nvPr/>
        </p:nvSpPr>
        <p:spPr>
          <a:xfrm>
            <a:off x="4846320" y="118872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SparkUp Channels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4846320" y="155448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monetize our own automated channels for long-term passive income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4663440" y="2423160"/>
            <a:ext cx="4297680" cy="1188720"/>
          </a:xfrm>
          <a:prstGeom prst="rect">
            <a:avLst/>
          </a:prstGeom>
          <a:solidFill>
            <a:srgbClr val="0F3460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0"/>
          <p:cNvSpPr/>
          <p:nvPr/>
        </p:nvSpPr>
        <p:spPr>
          <a:xfrm>
            <a:off x="4663440" y="2423160"/>
            <a:ext cx="64008" cy="118872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1"/>
          <p:cNvSpPr/>
          <p:nvPr/>
        </p:nvSpPr>
        <p:spPr>
          <a:xfrm>
            <a:off x="4846320" y="25146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Service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4846320" y="288036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channel automation as a managed service — setup + monthly retainer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4663440" y="3749040"/>
            <a:ext cx="4297680" cy="1188720"/>
          </a:xfrm>
          <a:prstGeom prst="rect">
            <a:avLst/>
          </a:prstGeom>
          <a:solidFill>
            <a:srgbClr val="0F3460"/>
          </a:solidFill>
          <a:ln w="12700">
            <a:solidFill>
              <a:srgbClr val="02C39A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24"/>
          <p:cNvSpPr/>
          <p:nvPr/>
        </p:nvSpPr>
        <p:spPr>
          <a:xfrm>
            <a:off x="4663440" y="3749040"/>
            <a:ext cx="64008" cy="11887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5"/>
          <p:cNvSpPr/>
          <p:nvPr/>
        </p:nvSpPr>
        <p:spPr>
          <a:xfrm>
            <a:off x="4846320" y="384048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/ Training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4846320" y="4206240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channel automation inside our AI Training Program as a premium module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LLC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45720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05 — THE AUTOMATION STACK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Strategy Meeting  |  15 March 2026  |  10:00 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Automation Stack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2834640" cy="36118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283464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CONTENT CREATION</a:t>
            </a:r>
            <a:endParaRPr lang="en-US" sz="9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691640"/>
            <a:ext cx="201168" cy="20116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658368" y="16642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Niche &amp; keyword research with AI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258568"/>
            <a:ext cx="201168" cy="20116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8368" y="223113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generation via SparkUp's proprietary template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825496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" y="279806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ElevenLabs AI voiceover — consistent brand voice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392424"/>
            <a:ext cx="201168" cy="20116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8368" y="33649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Kling AI / Midjourney for cinematic visuals</a:t>
            </a:r>
            <a:endParaRPr lang="en-US" sz="1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59352"/>
            <a:ext cx="201168" cy="20116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8368" y="393192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AI-designed thumbnails for high CTR</a:t>
            </a:r>
            <a:endParaRPr lang="en-US" sz="1000" dirty="0"/>
          </a:p>
        </p:txBody>
      </p:sp>
      <p:sp>
        <p:nvSpPr>
          <p:cNvPr id="22" name="Shape 15"/>
          <p:cNvSpPr/>
          <p:nvPr/>
        </p:nvSpPr>
        <p:spPr>
          <a:xfrm>
            <a:off x="3246120" y="1143000"/>
            <a:ext cx="2834640" cy="36118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6"/>
          <p:cNvSpPr/>
          <p:nvPr/>
        </p:nvSpPr>
        <p:spPr>
          <a:xfrm>
            <a:off x="3246120" y="1143000"/>
            <a:ext cx="2834640" cy="4114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7"/>
          <p:cNvSpPr/>
          <p:nvPr/>
        </p:nvSpPr>
        <p:spPr>
          <a:xfrm>
            <a:off x="333756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PRODUCTION</a:t>
            </a:r>
            <a:endParaRPr lang="en-US" sz="95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1691640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630168" y="16642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assembly with CapCut / DaVinci Resolve</a:t>
            </a:r>
            <a:endParaRPr lang="en-US" sz="1000" dirty="0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2258568"/>
            <a:ext cx="201168" cy="201168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3630168" y="223113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Auto-captions &amp; multilingual subtitles</a:t>
            </a:r>
            <a:endParaRPr lang="en-US" sz="1000" dirty="0"/>
          </a:p>
        </p:txBody>
      </p:sp>
      <p:pic>
        <p:nvPicPr>
          <p:cNvPr id="29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2825496"/>
            <a:ext cx="201168" cy="201168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3630168" y="279806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 checklist before every publish</a:t>
            </a:r>
            <a:endParaRPr lang="en-US" sz="1000" dirty="0"/>
          </a:p>
        </p:txBody>
      </p:sp>
      <p:pic>
        <p:nvPicPr>
          <p:cNvPr id="31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5848" y="3392424"/>
            <a:ext cx="201168" cy="201168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3630168" y="33649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production for weekly content calendar</a:t>
            </a:r>
            <a:endParaRPr lang="en-US" sz="1000" dirty="0"/>
          </a:p>
        </p:txBody>
      </p:sp>
      <p:sp>
        <p:nvSpPr>
          <p:cNvPr id="33" name="Shape 22"/>
          <p:cNvSpPr/>
          <p:nvPr/>
        </p:nvSpPr>
        <p:spPr>
          <a:xfrm>
            <a:off x="6217920" y="1143000"/>
            <a:ext cx="2834640" cy="36118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23"/>
          <p:cNvSpPr/>
          <p:nvPr/>
        </p:nvSpPr>
        <p:spPr>
          <a:xfrm>
            <a:off x="6217920" y="1143000"/>
            <a:ext cx="283464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4"/>
          <p:cNvSpPr/>
          <p:nvPr/>
        </p:nvSpPr>
        <p:spPr>
          <a:xfrm>
            <a:off x="6309360" y="1143000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PUBLISHING &amp; GROWTH</a:t>
            </a:r>
            <a:endParaRPr lang="en-US" sz="95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691640"/>
            <a:ext cx="201168" cy="201168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6601968" y="1664208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auto-posting across all platforms</a:t>
            </a:r>
            <a:endParaRPr lang="en-US" sz="100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258568"/>
            <a:ext cx="201168" cy="201168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6601968" y="2231136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SEO: titles, descriptions, tags</a:t>
            </a:r>
            <a:endParaRPr lang="en-US" sz="100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825496"/>
            <a:ext cx="201168" cy="201168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6601968" y="2798064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Cross-posting: TikTok + Instagram Reels + YT Shorts</a:t>
            </a:r>
            <a:endParaRPr lang="en-US" sz="1000" dirty="0"/>
          </a:p>
        </p:txBody>
      </p:sp>
      <p:pic>
        <p:nvPicPr>
          <p:cNvPr id="42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3392424"/>
            <a:ext cx="201168" cy="201168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6601968" y="3364992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analytics audit — data-driven optimization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LLC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45720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05 — CLIENT OFFERING &amp; REVENUE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Strategy Meeting  |  15 March 2026  |  10:00 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as a Client Offering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4114800" cy="11430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64008" cy="11430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143000"/>
            <a:ext cx="1097280" cy="41148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11430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81328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Basic Retainer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81328" y="155448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videos/week, YT only, basic SEO, monthly report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404872"/>
            <a:ext cx="4114800" cy="11430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404872"/>
            <a:ext cx="64008" cy="114300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404872"/>
            <a:ext cx="1097280" cy="411480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404872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81328" y="24963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Pro Retainer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81328" y="2816352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videos/week, YT + TikTok, full SEO, weekly report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666744"/>
            <a:ext cx="4114800" cy="114300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3666744"/>
            <a:ext cx="64008" cy="11430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274320" y="3666744"/>
            <a:ext cx="1097280" cy="41148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666744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481328" y="37581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Premium Retainer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81328" y="4078224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content, all platforms, monetization strategy, dedicated manager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663440" y="59436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Milestone Targets</a:t>
            </a:r>
            <a:endParaRPr lang="en-US" sz="1600" dirty="0"/>
          </a:p>
        </p:txBody>
      </p:sp>
      <p:graphicFrame>
        <p:nvGraphicFramePr>
          <p:cNvPr id="28" name="Chart 0"/>
          <p:cNvGraphicFramePr/>
          <p:nvPr/>
        </p:nvGraphicFramePr>
        <p:xfrm>
          <a:off x="4572000" y="1005840"/>
          <a:ext cx="429768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9" name="Text 26"/>
          <p:cNvSpPr/>
          <p:nvPr/>
        </p:nvSpPr>
        <p:spPr>
          <a:xfrm>
            <a:off x="4572000" y="4343400"/>
            <a:ext cx="4297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(× Baseline Unit)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02C39A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EMPOWERMENT INITIATIVE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· Digital skills · Financial independence from home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4206240"/>
            <a:ext cx="164592" cy="16459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80160" y="4206240"/>
            <a:ext cx="164592" cy="16459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91640" y="4206240"/>
            <a:ext cx="164592" cy="16459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03120" y="4206240"/>
            <a:ext cx="164592" cy="16459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LLC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45720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06 — WOMEN EMPOWERMENT INITIATIVE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Strategy Meeting  |  15 March 2026  |  10:00 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Empowerment Initiative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by Areeba Hasan, Co-Founder &amp; COO — Combining social impact with sustainable revenue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17320"/>
            <a:ext cx="4114800" cy="74980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" y="1581912"/>
            <a:ext cx="411480" cy="411480"/>
          </a:xfrm>
          <a:prstGeom prst="ellipse">
            <a:avLst/>
          </a:prstGeom>
          <a:solidFill>
            <a:srgbClr val="02C39A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" y="15819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147218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Measurable Income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68680" y="180136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that generate actual income — not theory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286000"/>
            <a:ext cx="4114800" cy="74980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" y="2450592"/>
            <a:ext cx="411480" cy="411480"/>
          </a:xfrm>
          <a:prstGeom prst="ellipse">
            <a:avLst/>
          </a:prstGeom>
          <a:solidFill>
            <a:srgbClr val="00B4D8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7472" y="24505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234086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Tech Background Needed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8680" y="267004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can start — completely beginner friendly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154680"/>
            <a:ext cx="4114800" cy="74980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47472" y="3319272"/>
            <a:ext cx="411480" cy="411480"/>
          </a:xfrm>
          <a:prstGeom prst="ellipse">
            <a:avLst/>
          </a:prstGeom>
          <a:solidFill>
            <a:srgbClr val="F4A261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47472" y="33192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68680" y="320954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Community-Led Ecosystem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68680" y="353872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supporting women in digital business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023360"/>
            <a:ext cx="4114800" cy="749808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47472" y="4187952"/>
            <a:ext cx="411480" cy="411480"/>
          </a:xfrm>
          <a:prstGeom prst="ellipse">
            <a:avLst/>
          </a:prstGeom>
          <a:solidFill>
            <a:srgbClr val="E94560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47472" y="41879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68680" y="4078224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Market Leadership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68680" y="4407408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as the #1 AI empowerment platform for women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13258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5-Module Curriculum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663440" y="1783080"/>
            <a:ext cx="4297680" cy="54864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63440" y="1783080"/>
            <a:ext cx="502920" cy="5486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663440" y="1783080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1819656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AI Tools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257800" y="2075688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Canva AI, ElevenLabs, image generation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2414016"/>
            <a:ext cx="4297680" cy="548640"/>
          </a:xfrm>
          <a:prstGeom prst="rect">
            <a:avLst/>
          </a:prstGeom>
          <a:solidFill>
            <a:srgbClr val="1E2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63440" y="2414016"/>
            <a:ext cx="502920" cy="548640"/>
          </a:xfrm>
          <a:prstGeom prst="rect">
            <a:avLst/>
          </a:prstGeom>
          <a:solidFill>
            <a:srgbClr val="02C39A">
              <a:alpha val="8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663440" y="2414016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57800" y="2450592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Content Creation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257800" y="2706624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Reels, posts, storytelling with AI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63440" y="3044952"/>
            <a:ext cx="4297680" cy="54864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4663440" y="3044952"/>
            <a:ext cx="502920" cy="548640"/>
          </a:xfrm>
          <a:prstGeom prst="rect">
            <a:avLst/>
          </a:prstGeom>
          <a:solidFill>
            <a:srgbClr val="02C39A">
              <a:alpha val="76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663440" y="3044952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57800" y="3081528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Income Streams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5257800" y="3337560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Freelancing, affiliate marketing, digital products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663440" y="3675888"/>
            <a:ext cx="4297680" cy="548640"/>
          </a:xfrm>
          <a:prstGeom prst="rect">
            <a:avLst/>
          </a:prstGeom>
          <a:solidFill>
            <a:srgbClr val="1E2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4663440" y="3675888"/>
            <a:ext cx="502920" cy="548640"/>
          </a:xfrm>
          <a:prstGeom prst="rect">
            <a:avLst/>
          </a:prstGeom>
          <a:solidFill>
            <a:srgbClr val="02C39A">
              <a:alpha val="64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4663440" y="3675888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257800" y="3712464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Branding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257800" y="3968496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professional online presence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663440" y="4306824"/>
            <a:ext cx="4297680" cy="54864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4663440" y="4306824"/>
            <a:ext cx="502920" cy="548640"/>
          </a:xfrm>
          <a:prstGeom prst="rect">
            <a:avLst/>
          </a:prstGeom>
          <a:solidFill>
            <a:srgbClr val="02C39A">
              <a:alpha val="5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4663440" y="4306824"/>
            <a:ext cx="502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5257800" y="4343400"/>
            <a:ext cx="3611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Automation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5257800" y="4599432"/>
            <a:ext cx="36118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scheduling, email marketing, leads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LLC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45720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06 — DELIVERY &amp; REVENUE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Strategy Meeting  |  15 March 2026  |  10:00 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Format &amp; Revenue Model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Format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4320" y="1554480"/>
            <a:ext cx="4114800" cy="71323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65760" y="1664208"/>
            <a:ext cx="493776" cy="493776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691640"/>
            <a:ext cx="402336" cy="4023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05840" y="162763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Online Sessions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05840" y="193852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Zoom/Google Meet — interactive &amp; hands-on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2377440"/>
            <a:ext cx="4114800" cy="71323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65760" y="2487168"/>
            <a:ext cx="493776" cy="493776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2514600"/>
            <a:ext cx="402336" cy="40233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05840" y="245059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Video Library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005840" y="276148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anytime, own pace, lifetime access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74320" y="3200400"/>
            <a:ext cx="4114800" cy="71323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365760" y="3310128"/>
            <a:ext cx="493776" cy="493776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337560"/>
            <a:ext cx="402336" cy="40233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05840" y="327355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Community Group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005840" y="358444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WhatsApp/Telegram — peer support &amp; accountability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274320" y="4023360"/>
            <a:ext cx="4114800" cy="713232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365760" y="4133088"/>
            <a:ext cx="493776" cy="493776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4160520"/>
            <a:ext cx="402336" cy="40233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005840" y="4096512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Live Q&amp;A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1005840" y="4407408"/>
            <a:ext cx="3246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guidance with Areeba Hasan, COO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4663440" y="109728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600" dirty="0"/>
          </a:p>
        </p:txBody>
      </p:sp>
      <p:graphicFrame>
        <p:nvGraphicFramePr>
          <p:cNvPr id="31" name="Chart 0"/>
          <p:cNvGraphicFramePr/>
          <p:nvPr/>
        </p:nvGraphicFramePr>
        <p:xfrm>
          <a:off x="4572000" y="1371600"/>
          <a:ext cx="438912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7315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F4A261">
                    <a:alpha val="3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SHARING PLANS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6517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Profit Share  ·  Department-Based Profit Centers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4206240"/>
            <a:ext cx="164592" cy="164592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68680" y="4206240"/>
            <a:ext cx="164592" cy="16459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280160" y="4206240"/>
            <a:ext cx="164592" cy="16459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91640" y="4206240"/>
            <a:ext cx="164592" cy="16459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03120" y="4206240"/>
            <a:ext cx="164592" cy="164592"/>
          </a:xfrm>
          <a:prstGeom prst="ellipse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LLC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45720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07 — GENERAL PROFIT SHARING PLAN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Strategy Meeting  |  15 March 2026  |  10:00 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Profit Sharing Plan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sharing is not a bonus — it is a structural commitment to team ownership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2834640" cy="1325880"/>
          </a:xfrm>
          <a:prstGeom prst="rect">
            <a:avLst/>
          </a:prstGeom>
          <a:solidFill>
            <a:srgbClr val="0F3460"/>
          </a:solidFill>
          <a:ln w="63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4048" y="1508760"/>
            <a:ext cx="548640" cy="548640"/>
          </a:xfrm>
          <a:prstGeom prst="ellipse">
            <a:avLst/>
          </a:prstGeom>
          <a:solidFill>
            <a:srgbClr val="F4A261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155448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51560" y="148132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&amp; Fair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5760" y="20574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team member knows exactly how they earn their share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46120" y="1389888"/>
            <a:ext cx="2834640" cy="1325880"/>
          </a:xfrm>
          <a:prstGeom prst="rect">
            <a:avLst/>
          </a:prstGeom>
          <a:solidFill>
            <a:srgbClr val="0F3460"/>
          </a:solidFill>
          <a:ln w="63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3355848" y="1508760"/>
            <a:ext cx="548640" cy="548640"/>
          </a:xfrm>
          <a:prstGeom prst="ellipse">
            <a:avLst/>
          </a:prstGeom>
          <a:solidFill>
            <a:srgbClr val="F4A261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155448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023360" y="148132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Performance-Driven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3337560" y="20574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contribution = higher share — effort is always rewarded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217920" y="1389888"/>
            <a:ext cx="2834640" cy="1325880"/>
          </a:xfrm>
          <a:prstGeom prst="rect">
            <a:avLst/>
          </a:prstGeom>
          <a:solidFill>
            <a:srgbClr val="0F3460"/>
          </a:solidFill>
          <a:ln w="635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6327648" y="1508760"/>
            <a:ext cx="548640" cy="548640"/>
          </a:xfrm>
          <a:prstGeom prst="ellipse">
            <a:avLst/>
          </a:prstGeom>
          <a:solidFill>
            <a:srgbClr val="F4A261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3368" y="155448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995160" y="148132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Loyalty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309360" y="205740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sharing retains top performers and builds team commitment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365760" y="2834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Parameters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274320" y="3291840"/>
            <a:ext cx="8595360" cy="310896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2"/>
          <p:cNvSpPr/>
          <p:nvPr/>
        </p:nvSpPr>
        <p:spPr>
          <a:xfrm>
            <a:off x="365760" y="33101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Eligible?</a:t>
            </a:r>
            <a:endParaRPr lang="en-US" sz="1050" dirty="0"/>
          </a:p>
        </p:txBody>
      </p:sp>
      <p:sp>
        <p:nvSpPr>
          <p:cNvPr id="28" name="Text 23"/>
          <p:cNvSpPr/>
          <p:nvPr/>
        </p:nvSpPr>
        <p:spPr>
          <a:xfrm>
            <a:off x="2697480" y="3310128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confirmed team members after the probation period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274320" y="3639312"/>
            <a:ext cx="8595360" cy="310896"/>
          </a:xfrm>
          <a:prstGeom prst="rect">
            <a:avLst/>
          </a:prstGeom>
          <a:solidFill>
            <a:srgbClr val="1E2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5"/>
          <p:cNvSpPr/>
          <p:nvPr/>
        </p:nvSpPr>
        <p:spPr>
          <a:xfrm>
            <a:off x="36576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Pool Size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2697480" y="365760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 of monthly/quarterly net profit (to be finalized)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274320" y="3986784"/>
            <a:ext cx="8595360" cy="310896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8"/>
          <p:cNvSpPr/>
          <p:nvPr/>
        </p:nvSpPr>
        <p:spPr>
          <a:xfrm>
            <a:off x="365760" y="40050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Cycle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2697480" y="4005072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or Quarterly — decision required today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274320" y="4334256"/>
            <a:ext cx="8595360" cy="310896"/>
          </a:xfrm>
          <a:prstGeom prst="rect">
            <a:avLst/>
          </a:prstGeom>
          <a:solidFill>
            <a:srgbClr val="1E253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/>
          <p:nvPr/>
        </p:nvSpPr>
        <p:spPr>
          <a:xfrm>
            <a:off x="365760" y="435254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Threshold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2697480" y="4352544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sharing activates only when revenue crosses the floor target</a:t>
            </a:r>
            <a:endParaRPr lang="en-US" sz="1050" dirty="0"/>
          </a:p>
        </p:txBody>
      </p:sp>
      <p:sp>
        <p:nvSpPr>
          <p:cNvPr id="38" name="Shape 33"/>
          <p:cNvSpPr/>
          <p:nvPr/>
        </p:nvSpPr>
        <p:spPr>
          <a:xfrm>
            <a:off x="274320" y="4681728"/>
            <a:ext cx="8595360" cy="310896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4"/>
          <p:cNvSpPr/>
          <p:nvPr/>
        </p:nvSpPr>
        <p:spPr>
          <a:xfrm>
            <a:off x="365760" y="47000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050" dirty="0"/>
          </a:p>
        </p:txBody>
      </p:sp>
      <p:sp>
        <p:nvSpPr>
          <p:cNvPr id="40" name="Text 35"/>
          <p:cNvSpPr/>
          <p:nvPr/>
        </p:nvSpPr>
        <p:spPr>
          <a:xfrm>
            <a:off x="2697480" y="4700016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P&amp;L summary shared with all eligible team members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LLC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45720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07 — PROFIT SHARING TIERS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Strategy Meeting  |  15 March 2026  |  10:00 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Profit Sharing Tiers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6858000" cy="6400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74320" y="1143000"/>
            <a:ext cx="1005840" cy="640080"/>
          </a:xfrm>
          <a:prstGeom prst="rect">
            <a:avLst/>
          </a:prstGeom>
          <a:solidFill>
            <a:srgbClr val="F4A261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14300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146304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71600" y="1188720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Yaser Shamim · Areeba Hasan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371600" y="147218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oversight share — highest allocation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892808"/>
            <a:ext cx="5943600" cy="6400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1892808"/>
            <a:ext cx="1005840" cy="640080"/>
          </a:xfrm>
          <a:prstGeom prst="rect">
            <a:avLst/>
          </a:prstGeom>
          <a:solidFill>
            <a:srgbClr val="E94560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189280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22128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371600" y="193852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· COO · Department Heads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371600" y="2221992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leadership premium share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642616"/>
            <a:ext cx="5029200" cy="6400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2642616"/>
            <a:ext cx="1005840" cy="640080"/>
          </a:xfrm>
          <a:prstGeom prst="rect">
            <a:avLst/>
          </a:prstGeom>
          <a:solidFill>
            <a:srgbClr val="00B4D8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74320" y="264261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296265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EXECUTORS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371600" y="268833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leads · Senior content creators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371600" y="297180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contribution share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392424"/>
            <a:ext cx="4114800" cy="6400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3392424"/>
            <a:ext cx="1005840" cy="640080"/>
          </a:xfrm>
          <a:prstGeom prst="rect">
            <a:avLst/>
          </a:prstGeom>
          <a:solidFill>
            <a:srgbClr val="02C39A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33924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371246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371600" y="3438144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active contributing team members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371600" y="3721608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team member share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142232"/>
            <a:ext cx="3200400" cy="6400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274320" y="4142232"/>
            <a:ext cx="1005840" cy="640080"/>
          </a:xfrm>
          <a:prstGeom prst="rect">
            <a:avLst/>
          </a:prstGeom>
          <a:solidFill>
            <a:srgbClr val="7C3AED">
              <a:alpha val="8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274320" y="414223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74320" y="446227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371600" y="418795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Part-time contributors · Freelancers on retainer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371600" y="4471416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contribution share — proportional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LLC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45720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08 — DEPARTMENT-BASED PROFIT SHARING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Strategy Meeting  |  15 March 2026  |  10:00 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as Profit Centers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0515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department tracks its own revenue — and shares in the profit it directly generates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417320"/>
            <a:ext cx="2788920" cy="150876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278892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303020" y="1581912"/>
            <a:ext cx="731520" cy="731520"/>
          </a:xfrm>
          <a:prstGeom prst="ellipse">
            <a:avLst/>
          </a:prstGeom>
          <a:solidFill>
            <a:srgbClr val="E94560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4460" y="1673352"/>
            <a:ext cx="548640" cy="5486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365760" y="24231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Production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65760" y="267919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· TikTok · Reels · AI video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273552" y="1417320"/>
            <a:ext cx="2788920" cy="150876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3273552" y="1417320"/>
            <a:ext cx="2788920" cy="54864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4302252" y="1581912"/>
            <a:ext cx="731520" cy="731520"/>
          </a:xfrm>
          <a:prstGeom prst="ellipse">
            <a:avLst/>
          </a:prstGeom>
          <a:solidFill>
            <a:srgbClr val="00B4D8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3692" y="1673352"/>
            <a:ext cx="548640" cy="54864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64992" y="24231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Training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364992" y="267919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sales · Corporate training · Workshops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263640" y="1417320"/>
            <a:ext cx="2788920" cy="150876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6263640" y="1417320"/>
            <a:ext cx="2788920" cy="54864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0"/>
          <p:cNvSpPr/>
          <p:nvPr/>
        </p:nvSpPr>
        <p:spPr>
          <a:xfrm>
            <a:off x="7292340" y="1581912"/>
            <a:ext cx="731520" cy="731520"/>
          </a:xfrm>
          <a:prstGeom prst="ellipse">
            <a:avLst/>
          </a:prstGeom>
          <a:solidFill>
            <a:srgbClr val="02C39A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83780" y="1673352"/>
            <a:ext cx="548640" cy="54864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355080" y="242316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Empowerment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355080" y="267919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· Memberships · Coaching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274320" y="3108960"/>
            <a:ext cx="2788920" cy="150876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4"/>
          <p:cNvSpPr/>
          <p:nvPr/>
        </p:nvSpPr>
        <p:spPr>
          <a:xfrm>
            <a:off x="274320" y="3108960"/>
            <a:ext cx="2788920" cy="54864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1303020" y="3273552"/>
            <a:ext cx="731520" cy="731520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4460" y="3364992"/>
            <a:ext cx="548640" cy="54864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365760" y="41148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Marketing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365760" y="437083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ad campaigns · Lead gen services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3273552" y="3108960"/>
            <a:ext cx="2788920" cy="150876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9"/>
          <p:cNvSpPr/>
          <p:nvPr/>
        </p:nvSpPr>
        <p:spPr>
          <a:xfrm>
            <a:off x="3273552" y="3108960"/>
            <a:ext cx="2788920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0"/>
          <p:cNvSpPr/>
          <p:nvPr/>
        </p:nvSpPr>
        <p:spPr>
          <a:xfrm>
            <a:off x="4302252" y="3273552"/>
            <a:ext cx="731520" cy="731520"/>
          </a:xfrm>
          <a:prstGeom prst="ellipse">
            <a:avLst/>
          </a:prstGeom>
          <a:solidFill>
            <a:srgbClr val="F4A261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93692" y="3364992"/>
            <a:ext cx="548640" cy="54864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364992" y="4114800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Services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3364992" y="4370832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 clients · New project delivery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LLC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45720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08 — IMPLEMENTATION ROADMAP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Strategy Meeting  |  15 March 2026  |  10:00 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Profit Sharing — Implementation Roadmap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8595360" cy="54864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97280" y="1033272"/>
            <a:ext cx="274320" cy="274320"/>
          </a:xfrm>
          <a:prstGeom prst="ellipse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" y="1417320"/>
            <a:ext cx="2057400" cy="33832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417320"/>
            <a:ext cx="2057400" cy="438912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4173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" y="162763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&amp; Setup</a:t>
            </a:r>
            <a:endParaRPr lang="en-US" sz="11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1965960"/>
            <a:ext cx="201168" cy="20116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" y="193852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all department boundaries</a:t>
            </a:r>
            <a:endParaRPr lang="en-US" sz="9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262432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40080" y="2596896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team members to departments</a:t>
            </a:r>
            <a:endParaRPr lang="en-US" sz="95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282696"/>
            <a:ext cx="201168" cy="20116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" y="3255264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revenue targets per department</a:t>
            </a:r>
            <a:endParaRPr lang="en-US" sz="95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41064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40080" y="3913632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 department heads with clear authority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3291840" y="1033272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2468880" y="1417320"/>
            <a:ext cx="2057400" cy="33832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2468880" y="1417320"/>
            <a:ext cx="2057400" cy="438912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0"/>
          <p:cNvSpPr/>
          <p:nvPr/>
        </p:nvSpPr>
        <p:spPr>
          <a:xfrm>
            <a:off x="2468880" y="14173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2468880" y="162763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&amp; Measure</a:t>
            </a:r>
            <a:endParaRPr lang="en-US" sz="11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608" y="1965960"/>
            <a:ext cx="201168" cy="20116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2834640" y="193852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department-level P&amp;L tracking</a:t>
            </a:r>
            <a:endParaRPr lang="en-US" sz="95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608" y="2624328"/>
            <a:ext cx="201168" cy="20116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834640" y="2596896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shared cost allocation system</a:t>
            </a:r>
            <a:endParaRPr lang="en-US" sz="95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608" y="3282696"/>
            <a:ext cx="201168" cy="20116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2834640" y="3255264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department revenue reviews</a:t>
            </a:r>
            <a:endParaRPr lang="en-US" sz="95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78608" y="3941064"/>
            <a:ext cx="201168" cy="20116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2834640" y="3913632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team on reporting process</a:t>
            </a:r>
            <a:endParaRPr lang="en-US" sz="950" dirty="0"/>
          </a:p>
        </p:txBody>
      </p:sp>
      <p:sp>
        <p:nvSpPr>
          <p:cNvPr id="36" name="Shape 26"/>
          <p:cNvSpPr/>
          <p:nvPr/>
        </p:nvSpPr>
        <p:spPr>
          <a:xfrm>
            <a:off x="5486400" y="1033272"/>
            <a:ext cx="274320" cy="274320"/>
          </a:xfrm>
          <a:prstGeom prst="ellipse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27"/>
          <p:cNvSpPr/>
          <p:nvPr/>
        </p:nvSpPr>
        <p:spPr>
          <a:xfrm>
            <a:off x="4663440" y="1417320"/>
            <a:ext cx="2057400" cy="33832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28"/>
          <p:cNvSpPr/>
          <p:nvPr/>
        </p:nvSpPr>
        <p:spPr>
          <a:xfrm>
            <a:off x="4663440" y="1417320"/>
            <a:ext cx="2057400" cy="438912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29"/>
          <p:cNvSpPr/>
          <p:nvPr/>
        </p:nvSpPr>
        <p:spPr>
          <a:xfrm>
            <a:off x="4663440" y="14173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000" dirty="0"/>
          </a:p>
        </p:txBody>
      </p:sp>
      <p:sp>
        <p:nvSpPr>
          <p:cNvPr id="40" name="Text 30"/>
          <p:cNvSpPr/>
          <p:nvPr/>
        </p:nvSpPr>
        <p:spPr>
          <a:xfrm>
            <a:off x="4663440" y="162763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Distribution (Pilot)</a:t>
            </a:r>
            <a:endParaRPr lang="en-US" sz="1100" dirty="0"/>
          </a:p>
        </p:txBody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965960"/>
            <a:ext cx="201168" cy="201168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5029200" y="193852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first profit pool per department</a:t>
            </a:r>
            <a:endParaRPr lang="en-US" sz="950" dirty="0"/>
          </a:p>
        </p:txBody>
      </p:sp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624328"/>
            <a:ext cx="201168" cy="201168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5029200" y="2596896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pilot-phase profit shares</a:t>
            </a:r>
            <a:endParaRPr lang="en-US" sz="950" dirty="0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3282696"/>
            <a:ext cx="201168" cy="201168"/>
          </a:xfrm>
          <a:prstGeom prst="rect">
            <a:avLst/>
          </a:prstGeom>
        </p:spPr>
      </p:pic>
      <p:sp>
        <p:nvSpPr>
          <p:cNvPr id="46" name="Text 33"/>
          <p:cNvSpPr/>
          <p:nvPr/>
        </p:nvSpPr>
        <p:spPr>
          <a:xfrm>
            <a:off x="5029200" y="3255264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 team feedback on the system</a:t>
            </a:r>
            <a:endParaRPr lang="en-US" sz="950" dirty="0"/>
          </a:p>
        </p:txBody>
      </p:sp>
      <p:pic>
        <p:nvPicPr>
          <p:cNvPr id="47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3941064"/>
            <a:ext cx="201168" cy="201168"/>
          </a:xfrm>
          <a:prstGeom prst="rect">
            <a:avLst/>
          </a:prstGeom>
        </p:spPr>
      </p:pic>
      <p:sp>
        <p:nvSpPr>
          <p:cNvPr id="48" name="Text 34"/>
          <p:cNvSpPr/>
          <p:nvPr/>
        </p:nvSpPr>
        <p:spPr>
          <a:xfrm>
            <a:off x="5029200" y="3913632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lessons from pilot phase</a:t>
            </a:r>
            <a:endParaRPr lang="en-US" sz="950" dirty="0"/>
          </a:p>
        </p:txBody>
      </p:sp>
      <p:sp>
        <p:nvSpPr>
          <p:cNvPr id="49" name="Shape 35"/>
          <p:cNvSpPr/>
          <p:nvPr/>
        </p:nvSpPr>
        <p:spPr>
          <a:xfrm>
            <a:off x="7680960" y="1033272"/>
            <a:ext cx="274320" cy="2743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36"/>
          <p:cNvSpPr/>
          <p:nvPr/>
        </p:nvSpPr>
        <p:spPr>
          <a:xfrm>
            <a:off x="6858000" y="1417320"/>
            <a:ext cx="2057400" cy="3383280"/>
          </a:xfrm>
          <a:prstGeom prst="rect">
            <a:avLst/>
          </a:prstGeom>
          <a:solidFill>
            <a:srgbClr val="161B22"/>
          </a:solidFill>
          <a:ln/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37"/>
          <p:cNvSpPr/>
          <p:nvPr/>
        </p:nvSpPr>
        <p:spPr>
          <a:xfrm>
            <a:off x="6858000" y="1417320"/>
            <a:ext cx="2057400" cy="438912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38"/>
          <p:cNvSpPr/>
          <p:nvPr/>
        </p:nvSpPr>
        <p:spPr>
          <a:xfrm>
            <a:off x="6858000" y="141732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4+</a:t>
            </a:r>
            <a:endParaRPr lang="en-US" sz="1000" dirty="0"/>
          </a:p>
        </p:txBody>
      </p:sp>
      <p:sp>
        <p:nvSpPr>
          <p:cNvPr id="53" name="Text 39"/>
          <p:cNvSpPr/>
          <p:nvPr/>
        </p:nvSpPr>
        <p:spPr>
          <a:xfrm>
            <a:off x="6858000" y="1627632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— Live</a:t>
            </a:r>
            <a:endParaRPr lang="en-US" sz="1100" dirty="0"/>
          </a:p>
        </p:txBody>
      </p:sp>
      <p:pic>
        <p:nvPicPr>
          <p:cNvPr id="54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1965960"/>
            <a:ext cx="201168" cy="201168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7223760" y="1938528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profit reporting fully operational</a:t>
            </a:r>
            <a:endParaRPr lang="en-US" sz="950" dirty="0"/>
          </a:p>
        </p:txBody>
      </p:sp>
      <p:pic>
        <p:nvPicPr>
          <p:cNvPr id="56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2624328"/>
            <a:ext cx="201168" cy="201168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7223760" y="2596896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P&amp;L dashboards</a:t>
            </a:r>
            <a:endParaRPr lang="en-US" sz="950" dirty="0"/>
          </a:p>
        </p:txBody>
      </p:sp>
      <p:pic>
        <p:nvPicPr>
          <p:cNvPr id="58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3282696"/>
            <a:ext cx="201168" cy="201168"/>
          </a:xfrm>
          <a:prstGeom prst="rect">
            <a:avLst/>
          </a:prstGeom>
        </p:spPr>
      </p:pic>
      <p:sp>
        <p:nvSpPr>
          <p:cNvPr id="59" name="Text 42"/>
          <p:cNvSpPr/>
          <p:nvPr/>
        </p:nvSpPr>
        <p:spPr>
          <a:xfrm>
            <a:off x="7223760" y="3255264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bonus tiers activated</a:t>
            </a:r>
            <a:endParaRPr lang="en-US" sz="950" dirty="0"/>
          </a:p>
        </p:txBody>
      </p:sp>
      <p:pic>
        <p:nvPicPr>
          <p:cNvPr id="60" name="Image 1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7728" y="3941064"/>
            <a:ext cx="201168" cy="201168"/>
          </a:xfrm>
          <a:prstGeom prst="rect">
            <a:avLst/>
          </a:prstGeom>
        </p:spPr>
      </p:pic>
      <p:sp>
        <p:nvSpPr>
          <p:cNvPr id="61" name="Text 43"/>
          <p:cNvSpPr/>
          <p:nvPr/>
        </p:nvSpPr>
        <p:spPr>
          <a:xfrm>
            <a:off x="7223760" y="3913632"/>
            <a:ext cx="16276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profit sharing review meeting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5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LLC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0" y="45720"/>
            <a:ext cx="8869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09 — ACTION ITEMS &amp; NEXT STEPS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4901184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Strategy Meeting  |  15 March 2026  |  10:00 AM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503920" y="4901184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5486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 &amp; Next Steps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74320" y="1143000"/>
            <a:ext cx="3474720" cy="41148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1430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749040" y="1143000"/>
            <a:ext cx="2286000" cy="41148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794760" y="11430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143000"/>
            <a:ext cx="1371600" cy="41148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80760" y="11430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406640" y="1143000"/>
            <a:ext cx="1737360" cy="41148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452360" y="1143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1572768"/>
            <a:ext cx="3474720" cy="38404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749040" y="1572768"/>
            <a:ext cx="2286000" cy="38404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35040" y="1572768"/>
            <a:ext cx="1371600" cy="38404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406640" y="1572768"/>
            <a:ext cx="1737360" cy="38404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543800" y="1664208"/>
            <a:ext cx="1371600" cy="201168"/>
          </a:xfrm>
          <a:prstGeom prst="roundRect">
            <a:avLst>
              <a:gd name="adj" fmla="val 22727"/>
            </a:avLst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1993392"/>
            <a:ext cx="3474720" cy="384048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749040" y="1993392"/>
            <a:ext cx="2286000" cy="384048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35040" y="1993392"/>
            <a:ext cx="1371600" cy="384048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406640" y="1993392"/>
            <a:ext cx="1737360" cy="384048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7543800" y="2084832"/>
            <a:ext cx="1371600" cy="201168"/>
          </a:xfrm>
          <a:prstGeom prst="roundRect">
            <a:avLst>
              <a:gd name="adj" fmla="val 22727"/>
            </a:avLst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2414016"/>
            <a:ext cx="3474720" cy="38404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749040" y="2414016"/>
            <a:ext cx="2286000" cy="38404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035040" y="2414016"/>
            <a:ext cx="1371600" cy="38404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406640" y="2414016"/>
            <a:ext cx="1737360" cy="38404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543800" y="2505456"/>
            <a:ext cx="1371600" cy="201168"/>
          </a:xfrm>
          <a:prstGeom prst="roundRect">
            <a:avLst>
              <a:gd name="adj" fmla="val 22727"/>
            </a:avLst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74320" y="2834640"/>
            <a:ext cx="3474720" cy="384048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749040" y="2834640"/>
            <a:ext cx="2286000" cy="384048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035040" y="2834640"/>
            <a:ext cx="1371600" cy="384048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406640" y="2834640"/>
            <a:ext cx="1737360" cy="384048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543800" y="2926080"/>
            <a:ext cx="1371600" cy="201168"/>
          </a:xfrm>
          <a:prstGeom prst="roundRect">
            <a:avLst>
              <a:gd name="adj" fmla="val 22727"/>
            </a:avLst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274320" y="3255264"/>
            <a:ext cx="3474720" cy="38404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749040" y="3255264"/>
            <a:ext cx="2286000" cy="38404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035040" y="3255264"/>
            <a:ext cx="1371600" cy="38404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7406640" y="3255264"/>
            <a:ext cx="1737360" cy="38404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7543800" y="3346704"/>
            <a:ext cx="1371600" cy="201168"/>
          </a:xfrm>
          <a:prstGeom prst="roundRect">
            <a:avLst>
              <a:gd name="adj" fmla="val 22727"/>
            </a:avLst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274320" y="3675888"/>
            <a:ext cx="3474720" cy="384048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749040" y="3675888"/>
            <a:ext cx="2286000" cy="384048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035040" y="3675888"/>
            <a:ext cx="1371600" cy="384048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7406640" y="3675888"/>
            <a:ext cx="1737360" cy="384048"/>
          </a:xfrm>
          <a:prstGeom prst="rect">
            <a:avLst/>
          </a:prstGeom>
          <a:solidFill>
            <a:srgbClr val="1C2128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7543800" y="3767328"/>
            <a:ext cx="1371600" cy="201168"/>
          </a:xfrm>
          <a:prstGeom prst="roundRect">
            <a:avLst>
              <a:gd name="adj" fmla="val 22727"/>
            </a:avLst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74320" y="4096512"/>
            <a:ext cx="3474720" cy="38404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749040" y="4096512"/>
            <a:ext cx="2286000" cy="38404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6035040" y="4096512"/>
            <a:ext cx="1371600" cy="38404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406640" y="4096512"/>
            <a:ext cx="1737360" cy="384048"/>
          </a:xfrm>
          <a:prstGeom prst="rect">
            <a:avLst/>
          </a:prstGeom>
          <a:solidFill>
            <a:srgbClr val="161B22"/>
          </a:solidFill>
          <a:ln w="381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543800" y="4187952"/>
            <a:ext cx="1371600" cy="201168"/>
          </a:xfrm>
          <a:prstGeom prst="roundRect">
            <a:avLst>
              <a:gd name="adj" fmla="val 22727"/>
            </a:avLst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274320" y="45720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Complete this table live during the meeting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096512"/>
            <a:ext cx="9144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0F34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44968" y="0"/>
            <a:ext cx="54864" cy="5143500"/>
          </a:xfrm>
          <a:prstGeom prst="rect">
            <a:avLst/>
          </a:prstGeom>
          <a:solidFill>
            <a:srgbClr val="00B4D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82880" y="182880"/>
            <a:ext cx="54864" cy="54864"/>
          </a:xfrm>
          <a:prstGeom prst="ellipse">
            <a:avLst/>
          </a:prstGeom>
          <a:solidFill>
            <a:srgbClr val="00B4D8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85800" y="182880"/>
            <a:ext cx="54864" cy="54864"/>
          </a:xfrm>
          <a:prstGeom prst="ellipse">
            <a:avLst/>
          </a:prstGeom>
          <a:solidFill>
            <a:srgbClr val="00B4D8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188720" y="182880"/>
            <a:ext cx="54864" cy="54864"/>
          </a:xfrm>
          <a:prstGeom prst="ellipse">
            <a:avLst/>
          </a:prstGeom>
          <a:solidFill>
            <a:srgbClr val="00B4D8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691640" y="182880"/>
            <a:ext cx="54864" cy="54864"/>
          </a:xfrm>
          <a:prstGeom prst="ellipse">
            <a:avLst/>
          </a:prstGeom>
          <a:solidFill>
            <a:srgbClr val="00B4D8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82880" y="685800"/>
            <a:ext cx="54864" cy="54864"/>
          </a:xfrm>
          <a:prstGeom prst="ellipse">
            <a:avLst/>
          </a:prstGeom>
          <a:solidFill>
            <a:srgbClr val="00B4D8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85800" y="685800"/>
            <a:ext cx="54864" cy="54864"/>
          </a:xfrm>
          <a:prstGeom prst="ellipse">
            <a:avLst/>
          </a:prstGeom>
          <a:solidFill>
            <a:srgbClr val="00B4D8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188720" y="685800"/>
            <a:ext cx="54864" cy="54864"/>
          </a:xfrm>
          <a:prstGeom prst="ellipse">
            <a:avLst/>
          </a:prstGeom>
          <a:solidFill>
            <a:srgbClr val="00B4D8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691640" y="685800"/>
            <a:ext cx="54864" cy="54864"/>
          </a:xfrm>
          <a:prstGeom prst="ellipse">
            <a:avLst/>
          </a:prstGeom>
          <a:solidFill>
            <a:srgbClr val="00B4D8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82880" y="1188720"/>
            <a:ext cx="54864" cy="54864"/>
          </a:xfrm>
          <a:prstGeom prst="ellipse">
            <a:avLst/>
          </a:prstGeom>
          <a:solidFill>
            <a:srgbClr val="00B4D8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85800" y="1188720"/>
            <a:ext cx="54864" cy="54864"/>
          </a:xfrm>
          <a:prstGeom prst="ellipse">
            <a:avLst/>
          </a:prstGeom>
          <a:solidFill>
            <a:srgbClr val="00B4D8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1188720" y="1188720"/>
            <a:ext cx="54864" cy="54864"/>
          </a:xfrm>
          <a:prstGeom prst="ellipse">
            <a:avLst/>
          </a:prstGeom>
          <a:solidFill>
            <a:srgbClr val="00B4D8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691640" y="1188720"/>
            <a:ext cx="54864" cy="54864"/>
          </a:xfrm>
          <a:prstGeom prst="ellipse">
            <a:avLst/>
          </a:prstGeom>
          <a:solidFill>
            <a:srgbClr val="00B4D8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82880" y="1691640"/>
            <a:ext cx="54864" cy="54864"/>
          </a:xfrm>
          <a:prstGeom prst="ellipse">
            <a:avLst/>
          </a:prstGeom>
          <a:solidFill>
            <a:srgbClr val="00B4D8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5800" y="1691640"/>
            <a:ext cx="54864" cy="54864"/>
          </a:xfrm>
          <a:prstGeom prst="ellipse">
            <a:avLst/>
          </a:prstGeom>
          <a:solidFill>
            <a:srgbClr val="00B4D8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1188720" y="1691640"/>
            <a:ext cx="54864" cy="54864"/>
          </a:xfrm>
          <a:prstGeom prst="ellipse">
            <a:avLst/>
          </a:prstGeom>
          <a:solidFill>
            <a:srgbClr val="00B4D8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691640" y="1691640"/>
            <a:ext cx="54864" cy="54864"/>
          </a:xfrm>
          <a:prstGeom prst="ellipse">
            <a:avLst/>
          </a:prstGeom>
          <a:solidFill>
            <a:srgbClr val="00B4D8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548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SPARKUP CREATIVE LLC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1097280"/>
            <a:ext cx="70408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8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AI.</a:t>
            </a:r>
            <a:endParaRPr lang="en-US" sz="4400" dirty="0"/>
          </a:p>
          <a:p>
            <a:pPr marL="0" indent="0">
              <a:lnSpc>
                <a:spcPct val="8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with Purpose.</a:t>
            </a:r>
            <a:endParaRPr lang="en-US" sz="4400" dirty="0"/>
          </a:p>
          <a:p>
            <a:pPr marL="0" indent="0">
              <a:lnSpc>
                <a:spcPct val="88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with Vision.</a:t>
            </a:r>
            <a:endParaRPr lang="en-US" sz="4400" dirty="0"/>
          </a:p>
        </p:txBody>
      </p:sp>
      <p:sp>
        <p:nvSpPr>
          <p:cNvPr id="25" name="Shape 23"/>
          <p:cNvSpPr/>
          <p:nvPr/>
        </p:nvSpPr>
        <p:spPr>
          <a:xfrm>
            <a:off x="457200" y="3429000"/>
            <a:ext cx="2286000" cy="54864"/>
          </a:xfrm>
          <a:prstGeom prst="rect">
            <a:avLst/>
          </a:prstGeom>
          <a:solidFill>
            <a:srgbClr val="E945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880360" y="3429000"/>
            <a:ext cx="457200" cy="54864"/>
          </a:xfrm>
          <a:prstGeom prst="rect">
            <a:avLst/>
          </a:prstGeom>
          <a:solidFill>
            <a:srgbClr val="F4A2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35661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Yaser Shamim, Founder &amp; CEO, SparkUp Creative LLC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2062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Sunday, 15th March 2026  ·  10:00 AM  ·  Internal Leadership Meeting</a:t>
            </a:r>
            <a:endParaRPr lang="en-US" sz="11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914400"/>
            <a:ext cx="731520" cy="731520"/>
          </a:xfrm>
          <a:prstGeom prst="rect">
            <a:avLst/>
          </a:prstGeom>
        </p:spPr>
      </p:pic>
      <p:pic>
        <p:nvPicPr>
          <p:cNvPr id="3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1920240"/>
            <a:ext cx="731520" cy="731520"/>
          </a:xfrm>
          <a:prstGeom prst="rect">
            <a:avLst/>
          </a:prstGeom>
        </p:spPr>
      </p:pic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0" y="292608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1923</Words>
  <Application>Microsoft Macintosh PowerPoint</Application>
  <PresentationFormat>On-screen Show (16:9)</PresentationFormat>
  <Paragraphs>431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SparkUp Creative – Sunday Strategy Meeting</dc:title>
  <dc:subject>PptxGenJS Presentation</dc:subject>
  <dc:creator>Yaser Shamim, CEO</dc:creator>
  <cp:lastModifiedBy>a29404</cp:lastModifiedBy>
  <cp:revision>2</cp:revision>
  <dcterms:created xsi:type="dcterms:W3CDTF">2026-03-12T19:20:15Z</dcterms:created>
  <dcterms:modified xsi:type="dcterms:W3CDTF">2026-03-12T19:31:13Z</dcterms:modified>
</cp:coreProperties>
</file>